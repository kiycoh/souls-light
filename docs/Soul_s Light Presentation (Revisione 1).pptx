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Indie Flower"/>
      <p:regular r:id="rId37"/>
    </p:embeddedFont>
    <p:embeddedFont>
      <p:font typeface="DM Mono Light"/>
      <p:regular r:id="rId38"/>
      <p:bold r:id="rId39"/>
      <p:italic r:id="rId40"/>
      <p:boldItalic r:id="rId41"/>
    </p:embeddedFont>
    <p:embeddedFont>
      <p:font typeface="Cinzel"/>
      <p:regular r:id="rId42"/>
      <p:bold r:id="rId43"/>
    </p:embeddedFont>
    <p:embeddedFont>
      <p:font typeface="Pixelify Sans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69">
          <p15:clr>
            <a:srgbClr val="747775"/>
          </p15:clr>
        </p15:guide>
        <p15:guide id="2" pos="1928">
          <p15:clr>
            <a:srgbClr val="747775"/>
          </p15:clr>
        </p15:guide>
        <p15:guide id="3" pos="3832">
          <p15:clr>
            <a:srgbClr val="747775"/>
          </p15:clr>
        </p15:guide>
        <p15:guide id="4" orient="horz" pos="2371">
          <p15:clr>
            <a:srgbClr val="747775"/>
          </p15:clr>
        </p15:guide>
        <p15:guide id="5" orient="horz" pos="514">
          <p15:clr>
            <a:srgbClr val="747775"/>
          </p15:clr>
        </p15:guide>
        <p15:guide id="6" pos="340">
          <p15:clr>
            <a:srgbClr val="747775"/>
          </p15:clr>
        </p15:guide>
        <p15:guide id="7" pos="5420">
          <p15:clr>
            <a:srgbClr val="747775"/>
          </p15:clr>
        </p15:guide>
        <p15:guide id="8" orient="horz" pos="298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69" orient="horz"/>
        <p:guide pos="1928"/>
        <p:guide pos="3832"/>
        <p:guide pos="2371" orient="horz"/>
        <p:guide pos="514" orient="horz"/>
        <p:guide pos="340"/>
        <p:guide pos="5420"/>
        <p:guide pos="298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MonoLight-italic.fntdata"/><Relationship Id="rId20" Type="http://schemas.openxmlformats.org/officeDocument/2006/relationships/slide" Target="slides/slide15.xml"/><Relationship Id="rId42" Type="http://schemas.openxmlformats.org/officeDocument/2006/relationships/font" Target="fonts/Cinzel-regular.fntdata"/><Relationship Id="rId41" Type="http://schemas.openxmlformats.org/officeDocument/2006/relationships/font" Target="fonts/DMMonoLight-boldItalic.fntdata"/><Relationship Id="rId22" Type="http://schemas.openxmlformats.org/officeDocument/2006/relationships/slide" Target="slides/slide17.xml"/><Relationship Id="rId44" Type="http://schemas.openxmlformats.org/officeDocument/2006/relationships/font" Target="fonts/PixelifySans-regular.fntdata"/><Relationship Id="rId21" Type="http://schemas.openxmlformats.org/officeDocument/2006/relationships/slide" Target="slides/slide16.xml"/><Relationship Id="rId43" Type="http://schemas.openxmlformats.org/officeDocument/2006/relationships/font" Target="fonts/Cinzel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Pixelify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schemas.openxmlformats.org/officeDocument/2006/relationships/font" Target="fonts/IndieFlower-regular.fnt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39" Type="http://schemas.openxmlformats.org/officeDocument/2006/relationships/font" Target="fonts/DMMonoLight-bold.fntdata"/><Relationship Id="rId16" Type="http://schemas.openxmlformats.org/officeDocument/2006/relationships/slide" Target="slides/slide11.xml"/><Relationship Id="rId38" Type="http://schemas.openxmlformats.org/officeDocument/2006/relationships/font" Target="fonts/DMMono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15ad45af0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15ad45af0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15ad45af0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15ad45af0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15ad45af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15ad45af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5ad45af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5ad45af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5ad45af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15ad45af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5ad45af0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15ad45af0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15ad45af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15ad45af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15ad45af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15ad45af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15ad45af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15ad45af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15ad45af0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15ad45af0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15ad45af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15ad45af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15ad45af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15ad45af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15ad45af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15ad45af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15ad45af0_1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15ad45af0_1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5ad45af0_1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5ad45af0_1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15ad45af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15ad45af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15ad45af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15ad45af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15ad45af0_1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15ad45af0_1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15ad45af0_1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15ad45af0_1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15ad45af0_1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15ad45af0_1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17ea152f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17ea152f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15ad45af0_1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15ad45af0_1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15ad45af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15ad45af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15ad45af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b15ad45af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15ad45af0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15ad45af0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15ad45af0_1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15ad45af0_1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://drive.google.com/file/d/1nIZ8geAGSAtLDwwZDCAO8S42BQ5b-yqk/view" TargetMode="External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38.jp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drive/folders/1_Mt307ftn9gtiXANYvE9GEbPERB7dJfK" TargetMode="External"/><Relationship Id="rId4" Type="http://schemas.openxmlformats.org/officeDocument/2006/relationships/hyperlink" Target="https://docs.google.com/document/d/1-JumuEHDuO-QqHJgj1bg8tTgvKeWIxVZ0HD25LWEY1c/edit?pli=1&amp;tab=t.jmgkcgeq8ytq" TargetMode="External"/><Relationship Id="rId5" Type="http://schemas.openxmlformats.org/officeDocument/2006/relationships/hyperlink" Target="https://docs.google.com/spreadsheets/d/12pNOBzmAW05Fuf5oA8HtihBM5R6HadhXSmMHaUkLSvU/edit?pli=1&amp;gid=1464487059#gid=1464487059" TargetMode="External"/><Relationship Id="rId6" Type="http://schemas.openxmlformats.org/officeDocument/2006/relationships/hyperlink" Target="http://draw.io" TargetMode="External"/><Relationship Id="rId7" Type="http://schemas.openxmlformats.org/officeDocument/2006/relationships/hyperlink" Target="https://github.com/kiycoh/souls-ligh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Relationship Id="rId6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Relationship Id="rId5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998gbwbjQw2wEse6XRVp9BSfLQkhrNBO/view" TargetMode="External"/><Relationship Id="rId4" Type="http://schemas.openxmlformats.org/officeDocument/2006/relationships/image" Target="../media/image4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title="logoTeam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263" y="654372"/>
            <a:ext cx="1369525" cy="7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1730424" y="4758600"/>
            <a:ext cx="5683200" cy="38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Pixelify Sans"/>
                <a:ea typeface="Pixelify Sans"/>
                <a:cs typeface="Pixelify Sans"/>
                <a:sym typeface="Pixelify Sans"/>
              </a:rPr>
              <a:t>Alessandro Carosia, Giuseppe Guagliardo, Dario Marcenò</a:t>
            </a:r>
            <a:endParaRPr sz="1300">
              <a:solidFill>
                <a:schemeClr val="lt1"/>
              </a:solidFill>
              <a:latin typeface="Pixelify Sans"/>
              <a:ea typeface="Pixelify Sans"/>
              <a:cs typeface="Pixelify Sans"/>
              <a:sym typeface="Pixelify Sans"/>
            </a:endParaRPr>
          </a:p>
        </p:txBody>
      </p:sp>
      <p:pic>
        <p:nvPicPr>
          <p:cNvPr id="91" name="Google Shape;91;p14" title="shine-7-268909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3679387" y="1528675"/>
            <a:ext cx="1785300" cy="415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lt1"/>
                </a:solidFill>
                <a:latin typeface="Pixelify Sans"/>
                <a:ea typeface="Pixelify Sans"/>
                <a:cs typeface="Pixelify Sans"/>
                <a:sym typeface="Pixelify Sans"/>
              </a:rPr>
              <a:t>presents..</a:t>
            </a:r>
            <a:endParaRPr sz="1500">
              <a:solidFill>
                <a:schemeClr val="lt1"/>
              </a:solidFill>
              <a:latin typeface="Pixelify Sans"/>
              <a:ea typeface="Pixelify Sans"/>
              <a:cs typeface="Pixelify Sans"/>
              <a:sym typeface="Pixelify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1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5"/>
          <p:cNvGrpSpPr/>
          <p:nvPr/>
        </p:nvGrpSpPr>
        <p:grpSpPr>
          <a:xfrm>
            <a:off x="1995113" y="2037213"/>
            <a:ext cx="5153775" cy="1069070"/>
            <a:chOff x="1995225" y="1701625"/>
            <a:chExt cx="5153775" cy="1069070"/>
          </a:xfrm>
        </p:grpSpPr>
        <p:sp>
          <p:nvSpPr>
            <p:cNvPr id="98" name="Google Shape;98;p15"/>
            <p:cNvSpPr txBox="1"/>
            <p:nvPr/>
          </p:nvSpPr>
          <p:spPr>
            <a:xfrm>
              <a:off x="1995225" y="2431995"/>
              <a:ext cx="5153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it" sz="1200">
                  <a:solidFill>
                    <a:srgbClr val="EFEFEF"/>
                  </a:solidFill>
                </a:rPr>
                <a:t> Progetto di Ingegneria del Software: a roguelite co-op RPG game</a:t>
              </a:r>
              <a:endParaRPr i="1" sz="1200">
                <a:solidFill>
                  <a:srgbClr val="EFEFEF"/>
                </a:solidFill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1995300" y="1701625"/>
              <a:ext cx="5153700" cy="5148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0" dist="0" endA="0" endPos="30000" fadeDir="5400012" kx="0" rotWithShape="0" algn="bl" stA="15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5100">
                  <a:solidFill>
                    <a:schemeClr val="lt1"/>
                  </a:solidFill>
                  <a:latin typeface="Cinzel"/>
                  <a:ea typeface="Cinzel"/>
                  <a:cs typeface="Cinzel"/>
                  <a:sym typeface="Cinzel"/>
                </a:rPr>
                <a:t>Soul’s Light</a:t>
              </a:r>
              <a:endParaRPr b="1" sz="5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  <p:sp>
        <p:nvSpPr>
          <p:cNvPr id="100" name="Google Shape;100;p15"/>
          <p:cNvSpPr txBox="1"/>
          <p:nvPr/>
        </p:nvSpPr>
        <p:spPr>
          <a:xfrm>
            <a:off x="7041675" y="4554375"/>
            <a:ext cx="14523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rgbClr val="EFEFEF"/>
                </a:solidFill>
              </a:rPr>
              <a:t>UNIPA 2025/2026</a:t>
            </a:r>
            <a:endParaRPr sz="1500">
              <a:solidFill>
                <a:schemeClr val="dk2"/>
              </a:solidFill>
            </a:endParaRPr>
          </a:p>
        </p:txBody>
      </p:sp>
      <p:grpSp>
        <p:nvGrpSpPr>
          <p:cNvPr id="101" name="Google Shape;101;p15"/>
          <p:cNvGrpSpPr/>
          <p:nvPr/>
        </p:nvGrpSpPr>
        <p:grpSpPr>
          <a:xfrm>
            <a:off x="8493986" y="4413380"/>
            <a:ext cx="574822" cy="574822"/>
            <a:chOff x="855825" y="1289475"/>
            <a:chExt cx="507300" cy="507300"/>
          </a:xfrm>
        </p:grpSpPr>
        <p:sp>
          <p:nvSpPr>
            <p:cNvPr id="102" name="Google Shape;102;p15"/>
            <p:cNvSpPr/>
            <p:nvPr/>
          </p:nvSpPr>
          <p:spPr>
            <a:xfrm>
              <a:off x="855825" y="1289475"/>
              <a:ext cx="507300" cy="507300"/>
            </a:xfrm>
            <a:prstGeom prst="ellipse">
              <a:avLst/>
            </a:prstGeom>
            <a:solidFill>
              <a:schemeClr val="lt1"/>
            </a:solidFill>
            <a:ln cap="flat" cmpd="sng" w="10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00" lIns="103600" spcFirstLastPara="1" rIns="103600" wrap="square" tIns="103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6"/>
            </a:p>
          </p:txBody>
        </p:sp>
        <p:pic>
          <p:nvPicPr>
            <p:cNvPr id="103" name="Google Shape;103;p15" title="Unipa logo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2500" y="1316150"/>
              <a:ext cx="453950" cy="4539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" name="Google Shape;104;p15" title="logoTeam1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7250" y="654372"/>
            <a:ext cx="1369525" cy="7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730424" y="4758600"/>
            <a:ext cx="5683200" cy="38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Pixelify Sans"/>
                <a:ea typeface="Pixelify Sans"/>
                <a:cs typeface="Pixelify Sans"/>
                <a:sym typeface="Pixelify Sans"/>
              </a:rPr>
              <a:t>Alessandro Carosia, Giuseppe Guagliardo, Dario Marcenò</a:t>
            </a:r>
            <a:endParaRPr sz="1300">
              <a:solidFill>
                <a:schemeClr val="lt1"/>
              </a:solidFill>
              <a:latin typeface="Pixelify Sans"/>
              <a:ea typeface="Pixelify Sans"/>
              <a:cs typeface="Pixelify Sans"/>
              <a:sym typeface="Pixelify Sans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idx="4294967295" type="body"/>
          </p:nvPr>
        </p:nvSpPr>
        <p:spPr>
          <a:xfrm>
            <a:off x="311700" y="816225"/>
            <a:ext cx="3999900" cy="333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it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 “Mu” e i protagonisti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Metodologia Agile e strumenti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b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it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Analisi delle meccaniche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Rougelite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Economia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>
            <p:ph idx="4294967295" type="body"/>
          </p:nvPr>
        </p:nvSpPr>
        <p:spPr>
          <a:xfrm>
            <a:off x="4832400" y="816225"/>
            <a:ext cx="3999900" cy="333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it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Sviluppo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Planning Poker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b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it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Architettura tecnica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 patterns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it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TDD (Test Driven Development)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40000" y="262125"/>
            <a:ext cx="42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Panoramica dei contenuti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2" type="body"/>
          </p:nvPr>
        </p:nvSpPr>
        <p:spPr>
          <a:xfrm>
            <a:off x="4939500" y="816225"/>
            <a:ext cx="3837000" cy="36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500">
                <a:latin typeface="Arial"/>
                <a:ea typeface="Arial"/>
                <a:cs typeface="Arial"/>
                <a:sym typeface="Arial"/>
              </a:rPr>
              <a:t>Cos’è il “Mu”? 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Il setting del gioco!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Ossia, un limbo di puro potenziale, contenente </a:t>
            </a:r>
            <a:r>
              <a:rPr i="1" lang="it" sz="1500">
                <a:latin typeface="Arial"/>
                <a:ea typeface="Arial"/>
                <a:cs typeface="Arial"/>
                <a:sym typeface="Arial"/>
              </a:rPr>
              <a:t>tutto ciò che non è mai stato realizzato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Dungeon suddiviso in livelli;</a:t>
            </a:r>
            <a:endParaRPr sz="1500" u="sng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Eventi random.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In questo scuro limbo, due entità si trovano costrette a lavorare insieme per uscirne: </a:t>
            </a:r>
            <a:r>
              <a:rPr b="1" lang="it" sz="1500">
                <a:latin typeface="Arial"/>
                <a:ea typeface="Arial"/>
                <a:cs typeface="Arial"/>
                <a:sym typeface="Arial"/>
              </a:rPr>
              <a:t>Nox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, l’involucro fisico e </a:t>
            </a:r>
            <a:r>
              <a:rPr b="1" lang="it" sz="1500">
                <a:latin typeface="Arial"/>
                <a:ea typeface="Arial"/>
                <a:cs typeface="Arial"/>
                <a:sym typeface="Arial"/>
              </a:rPr>
              <a:t>Lux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, l’anima di luce.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Queste si contrappongono con volontà all’</a:t>
            </a:r>
            <a:r>
              <a:rPr b="1" lang="it" sz="1500">
                <a:latin typeface="Arial"/>
                <a:ea typeface="Arial"/>
                <a:cs typeface="Arial"/>
                <a:sym typeface="Arial"/>
              </a:rPr>
              <a:t>Oblivion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, il regnante di questo mondo la cui unica volontà è “spegnere” le anime.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88" y="1111825"/>
            <a:ext cx="3621724" cy="362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title="no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5700" y="228722"/>
            <a:ext cx="587525" cy="58750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0" name="Google Shape;120;p17" title="lu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8462" y="4480787"/>
            <a:ext cx="587525" cy="587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1" name="Google Shape;121;p17"/>
          <p:cNvSpPr txBox="1"/>
          <p:nvPr/>
        </p:nvSpPr>
        <p:spPr>
          <a:xfrm>
            <a:off x="540000" y="262125"/>
            <a:ext cx="303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Benvenuti nel “Mu”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 title="1Screenshot 2025-12-17 1920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86"/>
            <a:ext cx="9143998" cy="513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2560x1440-2560x1440-5e710b93049cbd2125cf0261dcfbf943.jpg"/>
          <p:cNvPicPr preferRelativeResize="0"/>
          <p:nvPr/>
        </p:nvPicPr>
        <p:blipFill rotWithShape="1">
          <a:blip r:embed="rId4">
            <a:alphaModFix/>
          </a:blip>
          <a:srcRect b="5556" l="0" r="0" t="5556"/>
          <a:stretch/>
        </p:blipFill>
        <p:spPr>
          <a:xfrm>
            <a:off x="311700" y="3138153"/>
            <a:ext cx="3709348" cy="1854674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  <a:reflection blurRad="0" dir="0" dist="0" endA="0" endPos="30000" fadeDir="5400012" kx="0" rotWithShape="0" algn="bl" stA="30000" stPos="0" sy="-100000" ky="0"/>
          </a:effectLst>
        </p:spPr>
      </p:pic>
      <p:pic>
        <p:nvPicPr>
          <p:cNvPr id="128" name="Google Shape;12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975" y="146672"/>
            <a:ext cx="1714475" cy="25717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  <a:reflection blurRad="0" dir="0" dist="0" endA="0" endPos="30000" fadeDir="5400012" kx="0" rotWithShape="0" algn="bl" stA="30000" stPos="0" sy="-100000" ky="0"/>
          </a:effectLst>
        </p:spPr>
      </p:pic>
      <p:pic>
        <p:nvPicPr>
          <p:cNvPr id="129" name="Google Shape;12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9450" y="146675"/>
            <a:ext cx="3610676" cy="180532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  <a:reflection blurRad="0" dir="0" dist="0" endA="0" endPos="30000" fadeDir="5400012" kx="0" rotWithShape="0" algn="bl" stA="35000" stPos="0" sy="-100000" ky="0"/>
          </a:effectLst>
        </p:spPr>
      </p:pic>
      <p:pic>
        <p:nvPicPr>
          <p:cNvPr id="130" name="Google Shape;13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59321" y="2718396"/>
            <a:ext cx="1905225" cy="22744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  <a:reflection blurRad="0" dir="0" dist="0" endA="0" endPos="30000" fadeDir="5400012" kx="0" rotWithShape="0" algn="bl" stA="30000" stPos="0" sy="-100000" ky="0"/>
          </a:effectLst>
        </p:spPr>
      </p:pic>
      <p:sp>
        <p:nvSpPr>
          <p:cNvPr id="131" name="Google Shape;131;p18"/>
          <p:cNvSpPr txBox="1"/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effectLst>
            <a:outerShdw blurRad="100013" rotWithShape="0" algn="bl" dir="5400000" dist="104775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200">
                <a:latin typeface="Arial"/>
                <a:ea typeface="Arial"/>
                <a:cs typeface="Arial"/>
                <a:sym typeface="Arial"/>
              </a:rPr>
              <a:t>..</a:t>
            </a:r>
            <a:r>
              <a:rPr b="1" lang="it" sz="9200">
                <a:latin typeface="Arial"/>
                <a:ea typeface="Arial"/>
                <a:cs typeface="Arial"/>
                <a:sym typeface="Arial"/>
              </a:rPr>
              <a:t>Roguelite</a:t>
            </a:r>
            <a:r>
              <a:rPr b="1" lang="it">
                <a:latin typeface="Arial"/>
                <a:ea typeface="Arial"/>
                <a:cs typeface="Arial"/>
                <a:sym typeface="Arial"/>
              </a:rPr>
              <a:t>?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540000" y="816225"/>
            <a:ext cx="3566700" cy="39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/>
              <a:t>Nel rispetto delle specifiche progettuali, il gioco presenta come </a:t>
            </a:r>
            <a:r>
              <a:rPr i="1" lang="it" sz="1500"/>
              <a:t>core feature </a:t>
            </a:r>
            <a:r>
              <a:rPr lang="it" sz="1500"/>
              <a:t>la </a:t>
            </a:r>
            <a:r>
              <a:rPr b="1" lang="it" sz="1500"/>
              <a:t>co-operatività tra giocatori.</a:t>
            </a:r>
            <a:r>
              <a:rPr lang="it" sz="1500"/>
              <a:t> </a:t>
            </a:r>
            <a:r>
              <a:rPr lang="it" sz="1500"/>
              <a:t>Questa scelta è supportata da: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Economia di gioco (per acquistare potenziamenti e oggetti class specific);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Meccanica di rianimazione;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Character specific w</a:t>
            </a:r>
            <a:r>
              <a:rPr lang="it" sz="1500"/>
              <a:t>orld interaction</a:t>
            </a:r>
            <a:r>
              <a:rPr lang="it" sz="1500"/>
              <a:t>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Attacchi speciali co-op;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Nemici “intelligenti” (riconoscono debolezze di ciascuna classe).</a:t>
            </a:r>
            <a:endParaRPr sz="1500"/>
          </a:p>
        </p:txBody>
      </p:sp>
      <p:sp>
        <p:nvSpPr>
          <p:cNvPr id="137" name="Google Shape;137;p19"/>
          <p:cNvSpPr txBox="1"/>
          <p:nvPr>
            <p:ph type="title"/>
          </p:nvPr>
        </p:nvSpPr>
        <p:spPr>
          <a:xfrm>
            <a:off x="540000" y="262125"/>
            <a:ext cx="28080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it">
                <a:highlight>
                  <a:srgbClr val="F3F3F3"/>
                </a:highlight>
              </a:rPr>
              <a:t>Esperienza co-op</a:t>
            </a:r>
            <a:endParaRPr b="1" sz="2400">
              <a:highlight>
                <a:srgbClr val="F3F3F3"/>
              </a:highlight>
            </a:endParaRPr>
          </a:p>
        </p:txBody>
      </p:sp>
      <p:pic>
        <p:nvPicPr>
          <p:cNvPr id="138" name="Google Shape;138;p19" title="mappaPLACEHOLDER.png"/>
          <p:cNvPicPr preferRelativeResize="0"/>
          <p:nvPr/>
        </p:nvPicPr>
        <p:blipFill rotWithShape="1">
          <a:blip r:embed="rId3">
            <a:alphaModFix/>
          </a:blip>
          <a:srcRect b="0" l="34180" r="0" t="11497"/>
          <a:stretch/>
        </p:blipFill>
        <p:spPr>
          <a:xfrm flipH="1">
            <a:off x="4595989" y="262125"/>
            <a:ext cx="4727950" cy="42382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p19" title="Charge.png"/>
          <p:cNvPicPr preferRelativeResize="0"/>
          <p:nvPr/>
        </p:nvPicPr>
        <p:blipFill rotWithShape="1">
          <a:blip r:embed="rId4">
            <a:alphaModFix/>
          </a:blip>
          <a:srcRect b="-2550" l="64128" r="23633" t="2550"/>
          <a:stretch/>
        </p:blipFill>
        <p:spPr>
          <a:xfrm flipH="1" rot="6233234">
            <a:off x="7247927" y="1926467"/>
            <a:ext cx="1073499" cy="10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 title="lu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392352" y="2341125"/>
            <a:ext cx="662425" cy="6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 title="no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03639" y="1161000"/>
            <a:ext cx="784650" cy="78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 title="nemico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7946451" y="534225"/>
            <a:ext cx="838825" cy="78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 title="spadaIdl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302140" y="1318875"/>
            <a:ext cx="662425" cy="6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 title="Charge.png"/>
          <p:cNvPicPr preferRelativeResize="0"/>
          <p:nvPr/>
        </p:nvPicPr>
        <p:blipFill rotWithShape="1">
          <a:blip r:embed="rId4">
            <a:alphaModFix/>
          </a:blip>
          <a:srcRect b="0" l="0" r="87761" t="0"/>
          <a:stretch/>
        </p:blipFill>
        <p:spPr>
          <a:xfrm flipH="1" rot="6631440">
            <a:off x="7290939" y="1139025"/>
            <a:ext cx="1487426" cy="15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 title="1Health_Bar_Horiz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6185125" y="4089375"/>
            <a:ext cx="3464000" cy="411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 flipH="1">
            <a:off x="8795464" y="3873450"/>
            <a:ext cx="586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1100">
                <a:solidFill>
                  <a:srgbClr val="CCCCCC"/>
                </a:solidFill>
                <a:latin typeface="Pixelify Sans"/>
                <a:ea typeface="Pixelify Sans"/>
                <a:cs typeface="Pixelify Sans"/>
                <a:sym typeface="Pixelify Sans"/>
              </a:rPr>
              <a:t>Will</a:t>
            </a:r>
            <a:endParaRPr b="1" i="1" sz="1100">
              <a:solidFill>
                <a:srgbClr val="CCCCCC"/>
              </a:solidFill>
              <a:latin typeface="Pixelify Sans"/>
              <a:ea typeface="Pixelify Sans"/>
              <a:cs typeface="Pixelify Sans"/>
              <a:sym typeface="Pixelify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722" y="1193650"/>
            <a:ext cx="5810578" cy="326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0"/>
          <p:cNvCxnSpPr/>
          <p:nvPr/>
        </p:nvCxnSpPr>
        <p:spPr>
          <a:xfrm flipH="1" rot="10800000">
            <a:off x="990000" y="2298700"/>
            <a:ext cx="2023200" cy="131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0"/>
          <p:cNvCxnSpPr>
            <a:stCxn id="154" idx="0"/>
          </p:cNvCxnSpPr>
          <p:nvPr/>
        </p:nvCxnSpPr>
        <p:spPr>
          <a:xfrm flipH="1" rot="10800000">
            <a:off x="4572001" y="3132375"/>
            <a:ext cx="484800" cy="98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0"/>
          <p:cNvCxnSpPr>
            <a:stCxn id="156" idx="1"/>
          </p:cNvCxnSpPr>
          <p:nvPr/>
        </p:nvCxnSpPr>
        <p:spPr>
          <a:xfrm rot="10800000">
            <a:off x="5974425" y="2493625"/>
            <a:ext cx="1208400" cy="68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0"/>
          <p:cNvSpPr txBox="1"/>
          <p:nvPr>
            <p:ph type="title"/>
          </p:nvPr>
        </p:nvSpPr>
        <p:spPr>
          <a:xfrm>
            <a:off x="3060000" y="365600"/>
            <a:ext cx="302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1250"/>
              <a:buNone/>
            </a:pPr>
            <a:r>
              <a:rPr b="1" lang="it" sz="2400">
                <a:highlight>
                  <a:srgbClr val="F3F3F3"/>
                </a:highlight>
                <a:latin typeface="Arial"/>
                <a:ea typeface="Arial"/>
                <a:cs typeface="Arial"/>
                <a:sym typeface="Arial"/>
              </a:rPr>
              <a:t>Schema dei controlli</a:t>
            </a:r>
            <a:endParaRPr b="1" sz="2400">
              <a:highlight>
                <a:srgbClr val="F3F3F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20"/>
          <p:cNvCxnSpPr>
            <a:stCxn id="159" idx="1"/>
          </p:cNvCxnSpPr>
          <p:nvPr/>
        </p:nvCxnSpPr>
        <p:spPr>
          <a:xfrm flipH="1">
            <a:off x="5994300" y="1284825"/>
            <a:ext cx="1327800" cy="41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0"/>
          <p:cNvSpPr txBox="1"/>
          <p:nvPr/>
        </p:nvSpPr>
        <p:spPr>
          <a:xfrm>
            <a:off x="433650" y="3612100"/>
            <a:ext cx="12540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Indie Flower"/>
                <a:ea typeface="Indie Flower"/>
                <a:cs typeface="Indie Flower"/>
                <a:sym typeface="Indie Flower"/>
              </a:rPr>
              <a:t>Movimento</a:t>
            </a:r>
            <a:endParaRPr sz="18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cxnSp>
        <p:nvCxnSpPr>
          <p:cNvPr id="161" name="Google Shape;161;p20"/>
          <p:cNvCxnSpPr>
            <a:stCxn id="162" idx="2"/>
          </p:cNvCxnSpPr>
          <p:nvPr/>
        </p:nvCxnSpPr>
        <p:spPr>
          <a:xfrm>
            <a:off x="1273425" y="1193650"/>
            <a:ext cx="1888500" cy="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0"/>
          <p:cNvSpPr txBox="1"/>
          <p:nvPr/>
        </p:nvSpPr>
        <p:spPr>
          <a:xfrm>
            <a:off x="382425" y="731950"/>
            <a:ext cx="17820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Indie Flower"/>
                <a:ea typeface="Indie Flower"/>
                <a:cs typeface="Indie Flower"/>
                <a:sym typeface="Indie Flower"/>
              </a:rPr>
              <a:t>Attacco speciale</a:t>
            </a:r>
            <a:endParaRPr sz="18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7322100" y="1053975"/>
            <a:ext cx="15615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Indie Flower"/>
                <a:ea typeface="Indie Flower"/>
                <a:cs typeface="Indie Flower"/>
                <a:sym typeface="Indie Flower"/>
              </a:rPr>
              <a:t>Rianimazione</a:t>
            </a:r>
            <a:endParaRPr sz="18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7182825" y="2942875"/>
            <a:ext cx="13758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Indie Flower"/>
                <a:ea typeface="Indie Flower"/>
                <a:cs typeface="Indie Flower"/>
                <a:sym typeface="Indie Flower"/>
              </a:rPr>
              <a:t>Interazione</a:t>
            </a:r>
            <a:endParaRPr sz="18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3884101" y="4120275"/>
            <a:ext cx="13758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Indie Flower"/>
                <a:ea typeface="Indie Flower"/>
                <a:cs typeface="Indie Flower"/>
                <a:sym typeface="Indie Flower"/>
              </a:rPr>
              <a:t>Attacco</a:t>
            </a:r>
            <a:endParaRPr sz="1800">
              <a:latin typeface="Indie Flower"/>
              <a:ea typeface="Indie Flower"/>
              <a:cs typeface="Indie Flower"/>
              <a:sym typeface="Indie Flow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9296402" cy="522500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540000" y="946675"/>
            <a:ext cx="3763800" cy="281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Guerriero (</a:t>
            </a:r>
            <a:r>
              <a:rPr b="1" i="1"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tank</a:t>
            </a:r>
            <a:r>
              <a:rPr b="1"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/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709350" y="1698200"/>
            <a:ext cx="3425100" cy="648000"/>
          </a:xfrm>
          <a:prstGeom prst="rect">
            <a:avLst/>
          </a:prstGeom>
          <a:solidFill>
            <a:srgbClr val="00FF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+"/>
            </a:pPr>
            <a:r>
              <a:rPr lang="i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Buon crowd control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+"/>
            </a:pPr>
            <a:r>
              <a:rPr lang="i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Tanti HP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709350" y="2613250"/>
            <a:ext cx="3425100" cy="64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t"/>
              <a:t>Poca </a:t>
            </a:r>
            <a:r>
              <a:rPr lang="it"/>
              <a:t>mobilità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t"/>
              <a:t>Debole contro nemici complessi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4840200" y="946675"/>
            <a:ext cx="3763800" cy="281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Mago (</a:t>
            </a:r>
            <a:r>
              <a:rPr b="1" i="1"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support</a:t>
            </a:r>
            <a:r>
              <a:rPr b="1" lang="it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/>
          </a:p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5009550" y="1698200"/>
            <a:ext cx="3425100" cy="648000"/>
          </a:xfrm>
          <a:prstGeom prst="rect">
            <a:avLst/>
          </a:prstGeom>
          <a:solidFill>
            <a:srgbClr val="00FF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+"/>
            </a:pPr>
            <a:r>
              <a:rPr lang="i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Ottimo per focus fire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+"/>
            </a:pPr>
            <a:r>
              <a:rPr lang="i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Attacco a distanza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5009550" y="2613250"/>
            <a:ext cx="3425100" cy="64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it">
                <a:latin typeface="Roboto"/>
                <a:ea typeface="Roboto"/>
                <a:cs typeface="Roboto"/>
                <a:sym typeface="Roboto"/>
              </a:rPr>
              <a:t>Pochi HP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it">
                <a:latin typeface="Roboto"/>
                <a:ea typeface="Roboto"/>
                <a:cs typeface="Roboto"/>
                <a:sym typeface="Roboto"/>
              </a:rPr>
              <a:t>Debole </a:t>
            </a:r>
            <a:r>
              <a:rPr lang="it">
                <a:latin typeface="Roboto"/>
                <a:ea typeface="Roboto"/>
                <a:cs typeface="Roboto"/>
                <a:sym typeface="Roboto"/>
              </a:rPr>
              <a:t>da</a:t>
            </a:r>
            <a:r>
              <a:rPr lang="it">
                <a:latin typeface="Roboto"/>
                <a:ea typeface="Roboto"/>
                <a:cs typeface="Roboto"/>
                <a:sym typeface="Roboto"/>
              </a:rPr>
              <a:t> solo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3932375" y="1599475"/>
            <a:ext cx="269190" cy="269190"/>
          </a:xfrm>
          <a:prstGeom prst="lightningBol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8236175" y="1599475"/>
            <a:ext cx="269190" cy="269190"/>
          </a:xfrm>
          <a:prstGeom prst="lightningBol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3932425" y="2498600"/>
            <a:ext cx="269100" cy="269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8236225" y="2498600"/>
            <a:ext cx="269100" cy="269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540000" y="262125"/>
            <a:ext cx="499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Esempio di classi selezionabili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540000" y="4085550"/>
            <a:ext cx="5794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Avanzando tra i livelli, i personaggi accumuleranno esperienza fino ad evolversi ottenendo così class specific </a:t>
            </a:r>
            <a:r>
              <a:rPr i="1" lang="it" sz="1500">
                <a:solidFill>
                  <a:schemeClr val="dk2"/>
                </a:solidFill>
              </a:rPr>
              <a:t>buffs</a:t>
            </a:r>
            <a:r>
              <a:rPr lang="it" sz="1500">
                <a:solidFill>
                  <a:schemeClr val="dk2"/>
                </a:solidFill>
              </a:rPr>
              <a:t> e </a:t>
            </a:r>
            <a:r>
              <a:rPr i="1" lang="it" sz="1500">
                <a:solidFill>
                  <a:schemeClr val="dk2"/>
                </a:solidFill>
              </a:rPr>
              <a:t>abilities</a:t>
            </a:r>
            <a:r>
              <a:rPr lang="it" sz="1500">
                <a:solidFill>
                  <a:schemeClr val="dk2"/>
                </a:solidFill>
              </a:rPr>
              <a:t>.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400" y="3590197"/>
            <a:ext cx="969650" cy="9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540000" y="1379825"/>
            <a:ext cx="5544000" cy="23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Starter class;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Armi (specifiche per classe);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Potenziamenti permanenti e non;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Interazioni 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(NPCs, oggetti, prossima stanza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);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it" sz="150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celte che 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influenzano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 il finale.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4200" y="1379825"/>
            <a:ext cx="3429800" cy="1834825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7" name="Google Shape;187;p22"/>
          <p:cNvPicPr preferRelativeResize="0"/>
          <p:nvPr/>
        </p:nvPicPr>
        <p:blipFill rotWithShape="1">
          <a:blip r:embed="rId5">
            <a:alphaModFix/>
          </a:blip>
          <a:srcRect b="64043" l="13132" r="57842" t="0"/>
          <a:stretch/>
        </p:blipFill>
        <p:spPr>
          <a:xfrm>
            <a:off x="540000" y="4026975"/>
            <a:ext cx="855552" cy="706576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5">
            <a:alphaModFix/>
          </a:blip>
          <a:srcRect b="5927" l="59160" r="22754" t="69892"/>
          <a:stretch/>
        </p:blipFill>
        <p:spPr>
          <a:xfrm>
            <a:off x="1657225" y="4026975"/>
            <a:ext cx="792715" cy="706576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22"/>
          <p:cNvSpPr txBox="1"/>
          <p:nvPr/>
        </p:nvSpPr>
        <p:spPr>
          <a:xfrm>
            <a:off x="540000" y="262125"/>
            <a:ext cx="806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Scelte del giocatore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4675" y="3109500"/>
            <a:ext cx="1827057" cy="1624051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1" name="Google Shape;19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3700" y="2752125"/>
            <a:ext cx="1624050" cy="16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537600" y="262125"/>
            <a:ext cx="55464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it" sz="2400">
                <a:highlight>
                  <a:srgbClr val="F3F3F3"/>
                </a:highlight>
              </a:rPr>
              <a:t>Tech stack e metodologia</a:t>
            </a:r>
            <a:endParaRPr b="1" sz="2400">
              <a:highlight>
                <a:srgbClr val="F3F3F3"/>
              </a:highlight>
            </a:endParaRPr>
          </a:p>
        </p:txBody>
      </p:sp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it" sz="1500">
                <a:latin typeface="Arial"/>
                <a:ea typeface="Arial"/>
                <a:cs typeface="Arial"/>
                <a:sym typeface="Arial"/>
              </a:rPr>
              <a:t>Metodologia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 Agile Scrum (sprint di 2 settimane);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it" sz="1500">
                <a:latin typeface="Arial"/>
                <a:ea typeface="Arial"/>
                <a:cs typeface="Arial"/>
                <a:sym typeface="Arial"/>
              </a:rPr>
              <a:t>Architettura software 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MVC;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it" sz="1500">
                <a:latin typeface="Arial"/>
                <a:ea typeface="Arial"/>
                <a:cs typeface="Arial"/>
                <a:sym typeface="Arial"/>
              </a:rPr>
              <a:t>Framework 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LibGDX (Java) con dipendenze integrate ed esterne (</a:t>
            </a:r>
            <a:r>
              <a:rPr lang="it" sz="1500">
                <a:solidFill>
                  <a:srgbClr val="38761D"/>
                </a:solidFill>
                <a:latin typeface="DM Mono Light"/>
                <a:ea typeface="DM Mono Light"/>
                <a:cs typeface="DM Mono Light"/>
                <a:sym typeface="DM Mono Light"/>
              </a:rPr>
              <a:t>Box2D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 per physics engine, </a:t>
            </a:r>
            <a:r>
              <a:rPr lang="it" sz="1500">
                <a:solidFill>
                  <a:srgbClr val="38761D"/>
                </a:solidFill>
                <a:latin typeface="DM Mono Light"/>
                <a:ea typeface="DM Mono Light"/>
                <a:cs typeface="DM Mono Light"/>
                <a:sym typeface="DM Mono Light"/>
              </a:rPr>
              <a:t>gdxControllers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, ecc..).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it" sz="1500">
                <a:latin typeface="Arial"/>
                <a:ea typeface="Arial"/>
                <a:cs typeface="Arial"/>
                <a:sym typeface="Arial"/>
              </a:rPr>
              <a:t>Gestione documentale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 con Google Workspace (</a:t>
            </a:r>
            <a:r>
              <a:rPr lang="it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Drive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Docs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Sheets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, Presentation);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it" sz="1500">
                <a:latin typeface="Arial"/>
                <a:ea typeface="Arial"/>
                <a:cs typeface="Arial"/>
                <a:sym typeface="Arial"/>
              </a:rPr>
              <a:t>UML Design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 tramite Mermaid e </a:t>
            </a:r>
            <a:r>
              <a:rPr lang="it" sz="15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draw.io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it" sz="1500">
                <a:latin typeface="Arial"/>
                <a:ea typeface="Arial"/>
                <a:cs typeface="Arial"/>
                <a:sym typeface="Arial"/>
              </a:rPr>
              <a:t>Versionamento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 del codice tramite Git e branching su </a:t>
            </a:r>
            <a:r>
              <a:rPr lang="it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GitHub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;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it" sz="1500">
                <a:latin typeface="Arial"/>
                <a:ea typeface="Arial"/>
                <a:cs typeface="Arial"/>
                <a:sym typeface="Arial"/>
              </a:rPr>
              <a:t>Testing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 con JUnit 5 (approccio </a:t>
            </a:r>
            <a:r>
              <a:rPr i="1" lang="it" sz="1500">
                <a:latin typeface="Arial"/>
                <a:ea typeface="Arial"/>
                <a:cs typeface="Arial"/>
                <a:sym typeface="Arial"/>
              </a:rPr>
              <a:t>TDD</a:t>
            </a:r>
            <a:r>
              <a:rPr lang="it" sz="1500">
                <a:latin typeface="Arial"/>
                <a:ea typeface="Arial"/>
                <a:cs typeface="Arial"/>
                <a:sym typeface="Arial"/>
              </a:rPr>
              <a:t>).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625950" y="3763675"/>
            <a:ext cx="7892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L’approccio architetturale MVC ci ha permesso di mantenere una codebase gestibile, separando la logica di gioco (</a:t>
            </a:r>
            <a:r>
              <a:rPr i="1" lang="it" sz="1500">
                <a:solidFill>
                  <a:schemeClr val="dk2"/>
                </a:solidFill>
              </a:rPr>
              <a:t>Model</a:t>
            </a:r>
            <a:r>
              <a:rPr lang="it" sz="1500">
                <a:solidFill>
                  <a:schemeClr val="dk2"/>
                </a:solidFill>
              </a:rPr>
              <a:t>) dalla gestione degli input (</a:t>
            </a:r>
            <a:r>
              <a:rPr i="1" lang="it" sz="1500">
                <a:solidFill>
                  <a:schemeClr val="dk2"/>
                </a:solidFill>
              </a:rPr>
              <a:t>Controller</a:t>
            </a:r>
            <a:r>
              <a:rPr lang="it" sz="1500">
                <a:solidFill>
                  <a:schemeClr val="dk2"/>
                </a:solidFill>
              </a:rPr>
              <a:t>) e dal rendering (</a:t>
            </a:r>
            <a:r>
              <a:rPr i="1" lang="it" sz="1500">
                <a:solidFill>
                  <a:schemeClr val="dk2"/>
                </a:solidFill>
              </a:rPr>
              <a:t>View</a:t>
            </a:r>
            <a:r>
              <a:rPr lang="it" sz="1500">
                <a:solidFill>
                  <a:schemeClr val="dk2"/>
                </a:solidFill>
              </a:rPr>
              <a:t>).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396100" y="1778500"/>
            <a:ext cx="130800" cy="128400"/>
          </a:xfrm>
          <a:prstGeom prst="star4">
            <a:avLst>
              <a:gd fmla="val 12500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872025" y="3713475"/>
            <a:ext cx="130800" cy="128400"/>
          </a:xfrm>
          <a:prstGeom prst="star4">
            <a:avLst>
              <a:gd fmla="val 12500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/>
        </p:nvSpPr>
        <p:spPr>
          <a:xfrm>
            <a:off x="540000" y="262125"/>
            <a:ext cx="514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User stories &amp; planning poker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pic>
        <p:nvPicPr>
          <p:cNvPr id="207" name="Google Shape;2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00" y="2367950"/>
            <a:ext cx="8544599" cy="23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540000" y="1027638"/>
            <a:ext cx="80640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chemeClr val="lt1"/>
                </a:solidFill>
              </a:rPr>
              <a:t>User stories in formato “</a:t>
            </a:r>
            <a:r>
              <a:rPr lang="it" sz="1500">
                <a:solidFill>
                  <a:schemeClr val="lt1"/>
                </a:solidFill>
              </a:rPr>
              <a:t>As a [User], I want [Feature], so that [Benefit]</a:t>
            </a:r>
            <a:r>
              <a:rPr lang="it" sz="1500">
                <a:solidFill>
                  <a:schemeClr val="lt1"/>
                </a:solidFill>
              </a:rPr>
              <a:t>”;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it" sz="1500">
                <a:solidFill>
                  <a:schemeClr val="lt1"/>
                </a:solidFill>
              </a:rPr>
              <a:t>Classificazione US per priorità;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chemeClr val="lt1"/>
                </a:solidFill>
              </a:rPr>
              <a:t>Planning poker per stabilire complessità;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it" sz="1500">
                <a:solidFill>
                  <a:schemeClr val="lt1"/>
                </a:solidFill>
              </a:rPr>
              <a:t>Storie ∞ (epiche, troppo complesse) scomposte in stories gestibili.	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5" title="Spri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0000" y="1064150"/>
            <a:ext cx="5445750" cy="3669399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25"/>
          <p:cNvSpPr txBox="1"/>
          <p:nvPr/>
        </p:nvSpPr>
        <p:spPr>
          <a:xfrm>
            <a:off x="540000" y="262125"/>
            <a:ext cx="76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Sprint backlog (MVP)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pic>
        <p:nvPicPr>
          <p:cNvPr id="215" name="Google Shape;21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800" y="1064150"/>
            <a:ext cx="1991194" cy="3669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25"/>
          <p:cNvCxnSpPr>
            <a:stCxn id="217" idx="6"/>
            <a:endCxn id="213" idx="1"/>
          </p:cNvCxnSpPr>
          <p:nvPr/>
        </p:nvCxnSpPr>
        <p:spPr>
          <a:xfrm flipH="1" rot="10800000">
            <a:off x="1827550" y="2898725"/>
            <a:ext cx="1232400" cy="1006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7" name="Google Shape;217;p25"/>
          <p:cNvSpPr/>
          <p:nvPr/>
        </p:nvSpPr>
        <p:spPr>
          <a:xfrm>
            <a:off x="1045750" y="3785675"/>
            <a:ext cx="781800" cy="239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6" title="WhatsApp Image 2025-12-17 at 9.43.02 PM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278" y="985350"/>
            <a:ext cx="5525426" cy="37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0" y="262125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Diagramma “core” (menu, start/continue, pause, movement)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7" title="WhatsApp Image 2025-12-17 at 9.43.04 PM.jpeg"/>
          <p:cNvPicPr preferRelativeResize="0"/>
          <p:nvPr/>
        </p:nvPicPr>
        <p:blipFill rotWithShape="1">
          <a:blip r:embed="rId3">
            <a:alphaModFix/>
          </a:blip>
          <a:srcRect b="0" l="10" r="10" t="0"/>
          <a:stretch/>
        </p:blipFill>
        <p:spPr>
          <a:xfrm>
            <a:off x="1118450" y="998825"/>
            <a:ext cx="6907100" cy="373472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7"/>
          <p:cNvSpPr txBox="1"/>
          <p:nvPr/>
        </p:nvSpPr>
        <p:spPr>
          <a:xfrm>
            <a:off x="540000" y="262125"/>
            <a:ext cx="76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Diagramma “attacco primario”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8" title="WhatsApp Image 2025-12-17 at 9.43.02 PM (1)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4110" y="1003688"/>
            <a:ext cx="6395773" cy="37298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28"/>
          <p:cNvSpPr txBox="1"/>
          <p:nvPr/>
        </p:nvSpPr>
        <p:spPr>
          <a:xfrm>
            <a:off x="540000" y="262125"/>
            <a:ext cx="806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Diagramma “ecosistema nemici” &amp; “mappa dinamica”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/>
          <p:nvPr/>
        </p:nvSpPr>
        <p:spPr>
          <a:xfrm>
            <a:off x="2164963" y="22481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1" name="Google Shape;241;p29"/>
          <p:cNvGrpSpPr/>
          <p:nvPr/>
        </p:nvGrpSpPr>
        <p:grpSpPr>
          <a:xfrm>
            <a:off x="571536" y="1957150"/>
            <a:ext cx="1755000" cy="1897977"/>
            <a:chOff x="571536" y="1957150"/>
            <a:chExt cx="1755000" cy="1897977"/>
          </a:xfrm>
        </p:grpSpPr>
        <p:sp>
          <p:nvSpPr>
            <p:cNvPr id="242" name="Google Shape;242;p29"/>
            <p:cNvSpPr/>
            <p:nvPr/>
          </p:nvSpPr>
          <p:spPr>
            <a:xfrm>
              <a:off x="1151886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9"/>
            <p:cNvSpPr txBox="1"/>
            <p:nvPr/>
          </p:nvSpPr>
          <p:spPr>
            <a:xfrm>
              <a:off x="12306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it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UML</a:t>
              </a:r>
              <a:endParaRPr b="1"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4" name="Google Shape;244;p29"/>
            <p:cNvSpPr txBox="1"/>
            <p:nvPr/>
          </p:nvSpPr>
          <p:spPr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Diagrammi UML</a:t>
              </a:r>
              <a:endParaRPr b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" name="Google Shape;245;p29"/>
            <p:cNvSpPr txBox="1"/>
            <p:nvPr/>
          </p:nvSpPr>
          <p:spPr>
            <a:xfrm>
              <a:off x="571536" y="3117727"/>
              <a:ext cx="17550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it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Dalle user stories ricaviamo i relativi  diagrammi UML.</a:t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29"/>
          <p:cNvGrpSpPr/>
          <p:nvPr/>
        </p:nvGrpSpPr>
        <p:grpSpPr>
          <a:xfrm>
            <a:off x="2699423" y="1957150"/>
            <a:ext cx="1709103" cy="1897977"/>
            <a:chOff x="2699423" y="1957150"/>
            <a:chExt cx="1709103" cy="1897977"/>
          </a:xfrm>
        </p:grpSpPr>
        <p:sp>
          <p:nvSpPr>
            <p:cNvPr id="247" name="Google Shape;247;p29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9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Scrittura test (falliti)</a:t>
              </a:r>
              <a:endParaRPr b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" name="Google Shape;249;p29"/>
            <p:cNvSpPr txBox="1"/>
            <p:nvPr/>
          </p:nvSpPr>
          <p:spPr>
            <a:xfrm>
              <a:off x="2699423" y="3117727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Dai diagrammi UML scriviamo i test utili a verificare il corretto funzionamento di una classe (che al momento non esiste).</a:t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" name="Google Shape;250;p29"/>
            <p:cNvSpPr txBox="1"/>
            <p:nvPr/>
          </p:nvSpPr>
          <p:spPr>
            <a:xfrm>
              <a:off x="3335573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it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TEST</a:t>
              </a:r>
              <a:endParaRPr b="1"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1" name="Google Shape;251;p29"/>
          <p:cNvGrpSpPr/>
          <p:nvPr/>
        </p:nvGrpSpPr>
        <p:grpSpPr>
          <a:xfrm>
            <a:off x="6863386" y="1957150"/>
            <a:ext cx="1709102" cy="1897977"/>
            <a:chOff x="6863386" y="1957150"/>
            <a:chExt cx="1709102" cy="1897977"/>
          </a:xfrm>
        </p:grpSpPr>
        <p:sp>
          <p:nvSpPr>
            <p:cNvPr id="252" name="Google Shape;252;p29"/>
            <p:cNvSpPr/>
            <p:nvPr/>
          </p:nvSpPr>
          <p:spPr>
            <a:xfrm>
              <a:off x="7420786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9"/>
            <p:cNvSpPr txBox="1"/>
            <p:nvPr/>
          </p:nvSpPr>
          <p:spPr>
            <a:xfrm>
              <a:off x="68633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Software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" name="Google Shape;254;p29"/>
            <p:cNvSpPr txBox="1"/>
            <p:nvPr/>
          </p:nvSpPr>
          <p:spPr>
            <a:xfrm>
              <a:off x="6863386" y="3117727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it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Si itera questo processo finché non si ottiene il software eseguibile finito.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5" name="Google Shape;255;p29"/>
            <p:cNvSpPr txBox="1"/>
            <p:nvPr/>
          </p:nvSpPr>
          <p:spPr>
            <a:xfrm>
              <a:off x="74995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it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.EXE</a:t>
              </a:r>
              <a:endParaRPr b="1"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6" name="Google Shape;256;p29"/>
          <p:cNvSpPr/>
          <p:nvPr/>
        </p:nvSpPr>
        <p:spPr>
          <a:xfrm>
            <a:off x="4337175" y="22481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9"/>
          <p:cNvSpPr/>
          <p:nvPr/>
        </p:nvSpPr>
        <p:spPr>
          <a:xfrm>
            <a:off x="6419150" y="22481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9"/>
          <p:cNvGrpSpPr/>
          <p:nvPr/>
        </p:nvGrpSpPr>
        <p:grpSpPr>
          <a:xfrm>
            <a:off x="4781388" y="1957150"/>
            <a:ext cx="1709120" cy="1897975"/>
            <a:chOff x="4781388" y="1957150"/>
            <a:chExt cx="1709120" cy="1897975"/>
          </a:xfrm>
        </p:grpSpPr>
        <p:sp>
          <p:nvSpPr>
            <p:cNvPr id="259" name="Google Shape;259;p29"/>
            <p:cNvSpPr/>
            <p:nvPr/>
          </p:nvSpPr>
          <p:spPr>
            <a:xfrm>
              <a:off x="5338808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9"/>
            <p:cNvSpPr txBox="1"/>
            <p:nvPr/>
          </p:nvSpPr>
          <p:spPr>
            <a:xfrm>
              <a:off x="4781408" y="3117725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Dal test scriviamo implementiamo la classe vera e propria (ora il precedente test avrà successo).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29"/>
            <p:cNvSpPr txBox="1"/>
            <p:nvPr/>
          </p:nvSpPr>
          <p:spPr>
            <a:xfrm>
              <a:off x="5410450" y="2118325"/>
              <a:ext cx="4440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it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CODE</a:t>
              </a:r>
              <a:endParaRPr b="1"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" name="Google Shape;262;p29"/>
            <p:cNvSpPr txBox="1"/>
            <p:nvPr/>
          </p:nvSpPr>
          <p:spPr>
            <a:xfrm>
              <a:off x="4781388" y="2682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Classi (test success)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3" name="Google Shape;263;p29"/>
          <p:cNvSpPr txBox="1"/>
          <p:nvPr/>
        </p:nvSpPr>
        <p:spPr>
          <a:xfrm>
            <a:off x="540000" y="262125"/>
            <a:ext cx="76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Workflow Test Driven Development (TDD)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/>
        </p:nvSpPr>
        <p:spPr>
          <a:xfrm>
            <a:off x="540000" y="262125"/>
            <a:ext cx="76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Test tracker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pic>
        <p:nvPicPr>
          <p:cNvPr id="269" name="Google Shape;2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0875"/>
            <a:ext cx="8839202" cy="2462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500" y="1188662"/>
            <a:ext cx="2351125" cy="35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8775" y="1793925"/>
            <a:ext cx="3534474" cy="2334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31"/>
          <p:cNvCxnSpPr>
            <a:stCxn id="274" idx="3"/>
            <a:endCxn id="275" idx="1"/>
          </p:cNvCxnSpPr>
          <p:nvPr/>
        </p:nvCxnSpPr>
        <p:spPr>
          <a:xfrm>
            <a:off x="3656625" y="2961112"/>
            <a:ext cx="1172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1"/>
          <p:cNvSpPr txBox="1"/>
          <p:nvPr/>
        </p:nvSpPr>
        <p:spPr>
          <a:xfrm>
            <a:off x="540000" y="262125"/>
            <a:ext cx="806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Dai test alle classi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 txBox="1"/>
          <p:nvPr/>
        </p:nvSpPr>
        <p:spPr>
          <a:xfrm>
            <a:off x="540000" y="262125"/>
            <a:ext cx="806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Esempio di test - CombatTest()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pic>
        <p:nvPicPr>
          <p:cNvPr id="283" name="Google Shape;283;p32" title="TestWarriorSta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00" y="816225"/>
            <a:ext cx="7575800" cy="17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2" title="TestPlayerInitializ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000" y="2583650"/>
            <a:ext cx="4656145" cy="255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/>
        </p:nvSpPr>
        <p:spPr>
          <a:xfrm>
            <a:off x="540000" y="262125"/>
            <a:ext cx="76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Esempio di test - MapTest()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pic>
        <p:nvPicPr>
          <p:cNvPr id="290" name="Google Shape;290;p33" title="TestLoadTempl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8625"/>
            <a:ext cx="3865176" cy="25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3" title="TestAddEnemi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9976" y="968625"/>
            <a:ext cx="4821624" cy="2466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/>
          <p:nvPr/>
        </p:nvSpPr>
        <p:spPr>
          <a:xfrm>
            <a:off x="540000" y="262125"/>
            <a:ext cx="76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Esempio di test - EnemyTest()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pic>
        <p:nvPicPr>
          <p:cNvPr id="297" name="Google Shape;297;p34" title="TestCloneIndipende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25" y="1109200"/>
            <a:ext cx="3867612" cy="265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4" title="TestChaserBehaviou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7626" y="1109200"/>
            <a:ext cx="4909525" cy="2654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75" y="1379825"/>
            <a:ext cx="8839200" cy="337706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/>
          <p:nvPr/>
        </p:nvSpPr>
        <p:spPr>
          <a:xfrm>
            <a:off x="540000" y="262125"/>
            <a:ext cx="76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Risultati tests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7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6"/>
          <p:cNvPicPr preferRelativeResize="0"/>
          <p:nvPr/>
        </p:nvPicPr>
        <p:blipFill rotWithShape="1">
          <a:blip r:embed="rId3">
            <a:alphaModFix/>
          </a:blip>
          <a:srcRect b="0" l="0" r="0" t="95614"/>
          <a:stretch/>
        </p:blipFill>
        <p:spPr>
          <a:xfrm>
            <a:off x="0" y="4916025"/>
            <a:ext cx="9143998" cy="314000"/>
          </a:xfrm>
          <a:prstGeom prst="rect">
            <a:avLst/>
          </a:prstGeom>
          <a:noFill/>
          <a:ln cap="flat" cmpd="sng" w="9525">
            <a:solidFill>
              <a:srgbClr val="15141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0" name="Google Shape;310;p36" title="mappaPLACEHOLDER.png"/>
          <p:cNvPicPr preferRelativeResize="0"/>
          <p:nvPr/>
        </p:nvPicPr>
        <p:blipFill rotWithShape="1">
          <a:blip r:embed="rId4">
            <a:alphaModFix/>
          </a:blip>
          <a:srcRect b="50542" l="54768" r="11912" t="18407"/>
          <a:stretch/>
        </p:blipFill>
        <p:spPr>
          <a:xfrm>
            <a:off x="540000" y="3245575"/>
            <a:ext cx="1968731" cy="122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6"/>
          <p:cNvPicPr preferRelativeResize="0"/>
          <p:nvPr/>
        </p:nvPicPr>
        <p:blipFill rotWithShape="1">
          <a:blip r:embed="rId5">
            <a:alphaModFix/>
          </a:blip>
          <a:srcRect b="6724" l="5688" r="5439" t="6516"/>
          <a:stretch/>
        </p:blipFill>
        <p:spPr>
          <a:xfrm>
            <a:off x="2786163" y="3200188"/>
            <a:ext cx="1252775" cy="131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 txBox="1"/>
          <p:nvPr/>
        </p:nvSpPr>
        <p:spPr>
          <a:xfrm>
            <a:off x="540000" y="1353096"/>
            <a:ext cx="4373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rgbClr val="EFEFEF"/>
                </a:solidFill>
              </a:rPr>
              <a:t>Layer 0 (pavimento);</a:t>
            </a:r>
            <a:endParaRPr sz="1500">
              <a:solidFill>
                <a:srgbClr val="EFEFEF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rgbClr val="EFEFEF"/>
                </a:solidFill>
              </a:rPr>
              <a:t>Layer 1 (pareti);</a:t>
            </a:r>
            <a:endParaRPr sz="1500">
              <a:solidFill>
                <a:srgbClr val="EFEFEF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rgbClr val="EFEFEF"/>
                </a:solidFill>
              </a:rPr>
              <a:t>Layer 2 (porte);</a:t>
            </a:r>
            <a:endParaRPr sz="1500">
              <a:solidFill>
                <a:srgbClr val="EFEFEF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rgbClr val="EFEFEF"/>
                </a:solidFill>
              </a:rPr>
              <a:t>Layer 3 (entità).</a:t>
            </a:r>
            <a:br>
              <a:rPr lang="it" sz="1500">
                <a:solidFill>
                  <a:schemeClr val="dk2"/>
                </a:solidFill>
              </a:rPr>
            </a:br>
            <a:br>
              <a:rPr lang="it" sz="1500">
                <a:solidFill>
                  <a:schemeClr val="dk2"/>
                </a:solidFill>
              </a:rPr>
            </a:br>
            <a:endParaRPr sz="1500">
              <a:solidFill>
                <a:schemeClr val="dk2"/>
              </a:solidFill>
            </a:endParaRPr>
          </a:p>
        </p:txBody>
      </p:sp>
      <p:pic>
        <p:nvPicPr>
          <p:cNvPr id="313" name="Google Shape;313;p36" title="nemico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8273" y="1615875"/>
            <a:ext cx="784650" cy="78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6" title="mappaPLACEHOLDER.png"/>
          <p:cNvPicPr preferRelativeResize="0"/>
          <p:nvPr/>
        </p:nvPicPr>
        <p:blipFill rotWithShape="1">
          <a:blip r:embed="rId4">
            <a:alphaModFix/>
          </a:blip>
          <a:srcRect b="0" l="34180" r="0" t="83615"/>
          <a:stretch/>
        </p:blipFill>
        <p:spPr>
          <a:xfrm rot="5400000">
            <a:off x="2703150" y="2657747"/>
            <a:ext cx="3560675" cy="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6"/>
          <p:cNvSpPr txBox="1"/>
          <p:nvPr/>
        </p:nvSpPr>
        <p:spPr>
          <a:xfrm>
            <a:off x="5341788" y="13798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it" sz="15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layer possono essere variati per ottenere un effetto più naturale.</a:t>
            </a:r>
            <a:endParaRPr sz="15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36" title="mappaPLACEHOLDER.png"/>
          <p:cNvPicPr preferRelativeResize="0"/>
          <p:nvPr/>
        </p:nvPicPr>
        <p:blipFill rotWithShape="1">
          <a:blip r:embed="rId4">
            <a:alphaModFix/>
          </a:blip>
          <a:srcRect b="50542" l="54768" r="11912" t="18407"/>
          <a:stretch/>
        </p:blipFill>
        <p:spPr>
          <a:xfrm>
            <a:off x="5973650" y="2303099"/>
            <a:ext cx="1590025" cy="9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6" title="mappaPLACEHOLDER.png"/>
          <p:cNvPicPr preferRelativeResize="0"/>
          <p:nvPr/>
        </p:nvPicPr>
        <p:blipFill rotWithShape="1">
          <a:blip r:embed="rId4">
            <a:alphaModFix/>
          </a:blip>
          <a:srcRect b="47285" l="45695" r="20985" t="21664"/>
          <a:stretch/>
        </p:blipFill>
        <p:spPr>
          <a:xfrm>
            <a:off x="5915600" y="3526225"/>
            <a:ext cx="1590025" cy="98784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6"/>
          <p:cNvSpPr txBox="1"/>
          <p:nvPr/>
        </p:nvSpPr>
        <p:spPr>
          <a:xfrm>
            <a:off x="5158875" y="2566175"/>
            <a:ext cx="34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iter. 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9" name="Google Shape;319;p36"/>
          <p:cNvSpPr txBox="1"/>
          <p:nvPr/>
        </p:nvSpPr>
        <p:spPr>
          <a:xfrm>
            <a:off x="5088350" y="3789300"/>
            <a:ext cx="8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iter. 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0" name="Google Shape;320;p36"/>
          <p:cNvSpPr txBox="1"/>
          <p:nvPr>
            <p:ph idx="4294967295" type="title"/>
          </p:nvPr>
        </p:nvSpPr>
        <p:spPr>
          <a:xfrm>
            <a:off x="540000" y="262125"/>
            <a:ext cx="48018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it" sz="2400">
                <a:solidFill>
                  <a:srgbClr val="3A382C"/>
                </a:solidFill>
                <a:highlight>
                  <a:srgbClr val="F3F3F3"/>
                </a:highlight>
              </a:rPr>
              <a:t>Creazione mappa e layers system</a:t>
            </a:r>
            <a:endParaRPr b="1" sz="2400">
              <a:solidFill>
                <a:srgbClr val="3A382C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86"/>
            <a:ext cx="9143998" cy="513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7" title="Fla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50" y="2553975"/>
            <a:ext cx="8839201" cy="67993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7"/>
          <p:cNvSpPr txBox="1"/>
          <p:nvPr>
            <p:ph idx="1" type="body"/>
          </p:nvPr>
        </p:nvSpPr>
        <p:spPr>
          <a:xfrm>
            <a:off x="540000" y="1379825"/>
            <a:ext cx="80640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5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Il software itera sprite frames</a:t>
            </a:r>
            <a:r>
              <a:rPr i="1" lang="it" sz="15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5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per ottenere </a:t>
            </a:r>
            <a:r>
              <a:rPr lang="it" sz="15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un'animazione</a:t>
            </a:r>
            <a:r>
              <a:rPr lang="it" sz="15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fluente attraverso il sequenziamento temporale di immagini statiche, questo permette di modificare tempistiche, e richiamare frame specifici in caso di necessità indipendentemente dal materiale importato.</a:t>
            </a:r>
            <a:endParaRPr sz="150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37"/>
          <p:cNvPicPr preferRelativeResize="0"/>
          <p:nvPr/>
        </p:nvPicPr>
        <p:blipFill rotWithShape="1">
          <a:blip r:embed="rId5">
            <a:alphaModFix/>
          </a:blip>
          <a:srcRect b="18923" l="0" r="0" t="60285"/>
          <a:stretch/>
        </p:blipFill>
        <p:spPr>
          <a:xfrm rot="351118">
            <a:off x="766537" y="3616801"/>
            <a:ext cx="4586925" cy="95369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7"/>
          <p:cNvSpPr txBox="1"/>
          <p:nvPr>
            <p:ph type="title"/>
          </p:nvPr>
        </p:nvSpPr>
        <p:spPr>
          <a:xfrm>
            <a:off x="540000" y="262125"/>
            <a:ext cx="49914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it" sz="2400">
                <a:solidFill>
                  <a:srgbClr val="3A382C"/>
                </a:solidFill>
                <a:highlight>
                  <a:srgbClr val="F3F3F3"/>
                </a:highlight>
              </a:rPr>
              <a:t>Sistema a “sprite sheet”</a:t>
            </a:r>
            <a:endParaRPr b="1" sz="2400">
              <a:solidFill>
                <a:srgbClr val="3A382C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8" title="Mockuptitlescree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638" y="816225"/>
            <a:ext cx="7832726" cy="41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8"/>
          <p:cNvSpPr txBox="1"/>
          <p:nvPr/>
        </p:nvSpPr>
        <p:spPr>
          <a:xfrm>
            <a:off x="540000" y="262125"/>
            <a:ext cx="327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highlight>
                  <a:srgbClr val="F3F3F3"/>
                </a:highlight>
              </a:rPr>
              <a:t>Title screen mockup</a:t>
            </a:r>
            <a:endParaRPr b="1" sz="24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>
            <p:ph type="ctrTitle"/>
          </p:nvPr>
        </p:nvSpPr>
        <p:spPr>
          <a:xfrm>
            <a:off x="460950" y="21523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u="sng">
                <a:latin typeface="Arial"/>
                <a:ea typeface="Arial"/>
                <a:cs typeface="Arial"/>
                <a:sym typeface="Arial"/>
              </a:rPr>
              <a:t>GRAZIE PER L’ATTENZIONE</a:t>
            </a:r>
            <a:r>
              <a:rPr b="1" lang="it">
                <a:latin typeface="Arial"/>
                <a:ea typeface="Arial"/>
                <a:cs typeface="Arial"/>
                <a:sym typeface="Arial"/>
              </a:rPr>
              <a:t> :)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